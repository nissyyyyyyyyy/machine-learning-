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Samples</c:v>
                </c:pt>
              </c:strCache>
            </c:strRef>
          </c:tx>
          <c:spPr>
            <a:solidFill>
              <a:srgbClr val="722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  <c:pt idx="6">
                    <c:v>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53</c:v>
                </c:pt>
                <c:pt idx="2">
                  <c:v>681</c:v>
                </c:pt>
                <c:pt idx="3">
                  <c:v>638</c:v>
                </c:pt>
                <c:pt idx="4">
                  <c:v>199</c:v>
                </c:pt>
                <c:pt idx="5">
                  <c:v>18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37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7377"/>
                    </a:solidFill>
                    <a:latin typeface="Arial"/>
                  </a:rPr>
                  <a:t>Quality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3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37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7377"/>
                    </a:solidFill>
                    <a:latin typeface="Arial"/>
                  </a:rPr>
                  <a:t>Sample 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Alcohol %</c:v>
                </c:pt>
              </c:strCache>
            </c:strRef>
          </c:tx>
          <c:spPr>
            <a:solidFill>
              <a:srgbClr val="C9A24B"/>
            </a:solidFill>
            <a:ln w="38100" cap="flat">
              <a:solidFill>
                <a:srgbClr val="C9A2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4B"/>
              </a:solidFill>
              <a:ln w="9525" cap="flat">
                <a:solidFill>
                  <a:srgbClr val="C9A2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  <c:pt idx="6">
                    <c:v>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10.2</c:v>
                </c:pt>
                <c:pt idx="1">
                  <c:v>10.1</c:v>
                </c:pt>
                <c:pt idx="2">
                  <c:v>9.9</c:v>
                </c:pt>
                <c:pt idx="3">
                  <c:v>10.6</c:v>
                </c:pt>
                <c:pt idx="4">
                  <c:v>11.5</c:v>
                </c:pt>
                <c:pt idx="5">
                  <c:v>12.1</c:v>
                </c:pt>
                <c:pt idx="6">
                  <c:v>12.6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37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7377"/>
                    </a:solidFill>
                    <a:latin typeface="Arial"/>
                  </a:rPr>
                  <a:t>Quality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3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3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737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7377"/>
                    </a:solidFill>
                    <a:latin typeface="Arial"/>
                  </a:rPr>
                  <a:t>Avg. Alcohol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3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943600" cy="5943600"/>
          </a:xfrm>
          <a:prstGeom prst="ellipse">
            <a:avLst/>
          </a:prstGeom>
          <a:solidFill>
            <a:srgbClr val="722F3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108960"/>
            <a:ext cx="3291840" cy="3291840"/>
          </a:xfrm>
          <a:prstGeom prst="ellipse">
            <a:avLst/>
          </a:prstGeom>
          <a:solidFill>
            <a:srgbClr val="C9A24B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31720"/>
            <a:ext cx="187452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CLASSIFICATION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14884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Wine Quality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77240" y="40690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wine quality from physicochemical properties with Binary and Multinomial Logistic Regression.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5989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Chemistry Into a Quality Score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predicts wine quality using machine learning. Instead of relying on manual tasting alone, we use the measurable chemical properties of wine — such as acidity, sugar, and alcohol content — to predict whether a wine is good or which quality category it belongs 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7F0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402336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4160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754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5074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properties of wine samples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88920" y="379476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7F0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402336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60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8920" y="4754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26080" y="5074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models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20640" y="379476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F7F0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52160" y="402336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1605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4754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57800" y="5074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wine quality category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78040" y="1600200"/>
            <a:ext cx="4553712" cy="1965960"/>
          </a:xfrm>
          <a:prstGeom prst="roundRect">
            <a:avLst>
              <a:gd name="adj" fmla="val 4651"/>
            </a:avLst>
          </a:prstGeom>
          <a:solidFill>
            <a:srgbClr val="3A0D1E"/>
          </a:solidFill>
          <a:ln/>
        </p:spPr>
      </p:sp>
      <p:sp>
        <p:nvSpPr>
          <p:cNvPr id="22" name="Text 17"/>
          <p:cNvSpPr/>
          <p:nvPr/>
        </p:nvSpPr>
        <p:spPr>
          <a:xfrm>
            <a:off x="7452360" y="1783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vs. Not Good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Multi-level Quality Score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452360" y="24231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the relationship between measurable chemistry and human-perceived quality ratings.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Properties as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contains chemical properties measured for each wine sample. These physicochemical measurements form the input features used to predict quality.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3500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46888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214884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Volatile Acidity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48990" y="214884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11" name="Shape 8"/>
          <p:cNvSpPr/>
          <p:nvPr/>
        </p:nvSpPr>
        <p:spPr>
          <a:xfrm>
            <a:off x="3513582" y="23500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54" y="24688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2222" y="214884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Sugar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214884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5372" y="23500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24688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4012" y="214884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32570" y="214884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19" name="Shape 14"/>
          <p:cNvSpPr/>
          <p:nvPr/>
        </p:nvSpPr>
        <p:spPr>
          <a:xfrm>
            <a:off x="9297162" y="23500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468880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45802" y="214884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Level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57200" y="347472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23" name="Shape 17"/>
          <p:cNvSpPr/>
          <p:nvPr/>
        </p:nvSpPr>
        <p:spPr>
          <a:xfrm>
            <a:off x="621792" y="3675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79476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0432" y="347472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3348990" y="347472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27" name="Shape 20"/>
          <p:cNvSpPr/>
          <p:nvPr/>
        </p:nvSpPr>
        <p:spPr>
          <a:xfrm>
            <a:off x="3513582" y="3675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454" y="379476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62222" y="347472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Content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40780" y="347472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31" name="Shape 23"/>
          <p:cNvSpPr/>
          <p:nvPr/>
        </p:nvSpPr>
        <p:spPr>
          <a:xfrm>
            <a:off x="6405372" y="3675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3794760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54012" y="347472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Total Sulfur Dioxide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9132570" y="3474720"/>
            <a:ext cx="2571750" cy="1051560"/>
          </a:xfrm>
          <a:prstGeom prst="roundRect">
            <a:avLst>
              <a:gd name="adj" fmla="val 6957"/>
            </a:avLst>
          </a:prstGeom>
          <a:solidFill>
            <a:srgbClr val="F7F0F1"/>
          </a:solidFill>
          <a:ln/>
        </p:spPr>
      </p:sp>
      <p:sp>
        <p:nvSpPr>
          <p:cNvPr id="35" name="Shape 26"/>
          <p:cNvSpPr/>
          <p:nvPr/>
        </p:nvSpPr>
        <p:spPr>
          <a:xfrm>
            <a:off x="9297162" y="3675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6034" y="3794760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845802" y="3474720"/>
            <a:ext cx="174879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457200" y="47091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722F37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901184"/>
            <a:ext cx="384048" cy="38404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234440" y="47091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— the score or category the model learns to predict</a:t>
            </a:r>
            <a:endParaRPr lang="en-US" sz="1400" dirty="0"/>
          </a:p>
        </p:txBody>
      </p:sp>
      <p:sp>
        <p:nvSpPr>
          <p:cNvPr id="41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for Modeling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we clean the dataset and check for missing values and duplicates. Then we scale the features, since they naturally exist on very different ranges.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331720" cy="2880360"/>
          </a:xfrm>
          <a:prstGeom prst="roundRect">
            <a:avLst>
              <a:gd name="adj" fmla="val 3922"/>
            </a:avLst>
          </a:prstGeom>
          <a:solidFill>
            <a:srgbClr val="3A0D1E"/>
          </a:solidFill>
          <a:ln/>
        </p:spPr>
      </p:sp>
      <p:sp>
        <p:nvSpPr>
          <p:cNvPr id="7" name="Shape 5"/>
          <p:cNvSpPr/>
          <p:nvPr/>
        </p:nvSpPr>
        <p:spPr>
          <a:xfrm>
            <a:off x="1257300" y="2926080"/>
            <a:ext cx="731520" cy="731520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30906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840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Missing-Value Check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0080" y="43891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feature for null or absent readings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392734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606040"/>
            <a:ext cx="2331720" cy="2880360"/>
          </a:xfrm>
          <a:prstGeom prst="roundRect">
            <a:avLst>
              <a:gd name="adj" fmla="val 3922"/>
            </a:avLst>
          </a:prstGeom>
          <a:solidFill>
            <a:srgbClr val="3A0D1E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2926080"/>
            <a:ext cx="731520" cy="731520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30906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66160" y="3840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611880" y="43891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flag repeated wine records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27348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0" y="2606040"/>
            <a:ext cx="2331720" cy="2880360"/>
          </a:xfrm>
          <a:prstGeom prst="roundRect">
            <a:avLst>
              <a:gd name="adj" fmla="val 3922"/>
            </a:avLst>
          </a:prstGeom>
          <a:solidFill>
            <a:srgbClr val="3A0D1E"/>
          </a:solidFill>
          <a:ln/>
        </p:spPr>
      </p:sp>
      <p:sp>
        <p:nvSpPr>
          <p:cNvPr id="21" name="Shape 15"/>
          <p:cNvSpPr/>
          <p:nvPr/>
        </p:nvSpPr>
        <p:spPr>
          <a:xfrm>
            <a:off x="7200900" y="2926080"/>
            <a:ext cx="731520" cy="731520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492" y="309067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537960" y="3840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583680" y="43891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 remove faulty and inconsistent entries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88" y="3927348"/>
            <a:ext cx="23774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372600" y="2606040"/>
            <a:ext cx="2331720" cy="2880360"/>
          </a:xfrm>
          <a:prstGeom prst="roundRect">
            <a:avLst>
              <a:gd name="adj" fmla="val 3922"/>
            </a:avLst>
          </a:prstGeom>
          <a:solidFill>
            <a:srgbClr val="3A0D1E"/>
          </a:solidFill>
          <a:ln/>
        </p:spPr>
      </p:sp>
      <p:sp>
        <p:nvSpPr>
          <p:cNvPr id="28" name="Shape 20"/>
          <p:cNvSpPr/>
          <p:nvPr/>
        </p:nvSpPr>
        <p:spPr>
          <a:xfrm>
            <a:off x="10172700" y="2926080"/>
            <a:ext cx="731520" cy="731520"/>
          </a:xfrm>
          <a:prstGeom prst="ellipse">
            <a:avLst/>
          </a:prstGeom>
          <a:solidFill>
            <a:srgbClr val="722F37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7292" y="309067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2014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9509760" y="38404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450" dirty="0"/>
          </a:p>
        </p:txBody>
      </p:sp>
      <p:sp>
        <p:nvSpPr>
          <p:cNvPr id="32" name="Text 23"/>
          <p:cNvSpPr/>
          <p:nvPr/>
        </p:nvSpPr>
        <p:spPr>
          <a:xfrm>
            <a:off x="9555480" y="438912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ranges so no feature dominates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Feature Relationships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modeling, we explore the data visually to understand how features relate to each other and to wine quality.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0" y="22402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240280"/>
            <a:ext cx="429768" cy="429768"/>
          </a:xfrm>
          <a:prstGeom prst="rect">
            <a:avLst/>
          </a:prstGeom>
          <a:solidFill>
            <a:srgbClr val="F4E9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240280"/>
            <a:ext cx="429768" cy="429768"/>
          </a:xfrm>
          <a:prstGeom prst="rect">
            <a:avLst/>
          </a:prstGeom>
          <a:solidFill>
            <a:srgbClr val="EDE2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240280"/>
            <a:ext cx="429768" cy="429768"/>
          </a:xfrm>
          <a:prstGeom prst="rect">
            <a:avLst/>
          </a:prstGeom>
          <a:solidFill>
            <a:srgbClr val="EAD9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240280"/>
            <a:ext cx="429768" cy="429768"/>
          </a:xfrm>
          <a:prstGeom prst="rect">
            <a:avLst/>
          </a:prstGeom>
          <a:solidFill>
            <a:srgbClr val="E6D8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240280"/>
            <a:ext cx="429768" cy="429768"/>
          </a:xfrm>
          <a:prstGeom prst="rect">
            <a:avLst/>
          </a:prstGeom>
          <a:solidFill>
            <a:srgbClr val="F7EF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2240280"/>
            <a:ext cx="429768" cy="429768"/>
          </a:xfrm>
          <a:prstGeom prst="rect">
            <a:avLst/>
          </a:prstGeom>
          <a:solidFill>
            <a:srgbClr val="F4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240280"/>
            <a:ext cx="429768" cy="429768"/>
          </a:xfrm>
          <a:prstGeom prst="rect">
            <a:avLst/>
          </a:prstGeom>
          <a:solidFill>
            <a:srgbClr val="F5EC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97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0" y="2697480"/>
            <a:ext cx="429768" cy="429768"/>
          </a:xfrm>
          <a:prstGeom prst="rect">
            <a:avLst/>
          </a:prstGeom>
          <a:solidFill>
            <a:srgbClr val="F4E9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26974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2697480"/>
            <a:ext cx="429768" cy="429768"/>
          </a:xfrm>
          <a:prstGeom prst="rect">
            <a:avLst/>
          </a:prstGeom>
          <a:solidFill>
            <a:srgbClr val="F4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697480"/>
            <a:ext cx="429768" cy="429768"/>
          </a:xfrm>
          <a:prstGeom prst="rect">
            <a:avLst/>
          </a:prstGeom>
          <a:solidFill>
            <a:srgbClr val="FAF4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697480"/>
            <a:ext cx="429768" cy="429768"/>
          </a:xfrm>
          <a:prstGeom prst="rect">
            <a:avLst/>
          </a:prstGeom>
          <a:solidFill>
            <a:srgbClr val="FBF5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697480"/>
            <a:ext cx="429768" cy="429768"/>
          </a:xfrm>
          <a:prstGeom prst="rect">
            <a:avLst/>
          </a:prstGeom>
          <a:solidFill>
            <a:srgbClr val="F6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697480"/>
            <a:ext cx="429768" cy="429768"/>
          </a:xfrm>
          <a:prstGeom prst="rect">
            <a:avLst/>
          </a:prstGeom>
          <a:solidFill>
            <a:srgbClr val="EDE2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697480"/>
            <a:ext cx="429768" cy="429768"/>
          </a:xfrm>
          <a:prstGeom prst="rect">
            <a:avLst/>
          </a:prstGeom>
          <a:solidFill>
            <a:srgbClr val="F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546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371600" y="3154680"/>
            <a:ext cx="429768" cy="429768"/>
          </a:xfrm>
          <a:prstGeom prst="rect">
            <a:avLst/>
          </a:prstGeom>
          <a:solidFill>
            <a:srgbClr val="EDE2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0" y="3154680"/>
            <a:ext cx="429768" cy="429768"/>
          </a:xfrm>
          <a:prstGeom prst="rect">
            <a:avLst/>
          </a:prstGeom>
          <a:solidFill>
            <a:srgbClr val="F4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31546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154680"/>
            <a:ext cx="429768" cy="429768"/>
          </a:xfrm>
          <a:prstGeom prst="rect">
            <a:avLst/>
          </a:prstGeom>
          <a:solidFill>
            <a:srgbClr val="F6EE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154680"/>
            <a:ext cx="429768" cy="429768"/>
          </a:xfrm>
          <a:prstGeom prst="rect">
            <a:avLst/>
          </a:prstGeom>
          <a:solidFill>
            <a:srgbClr val="E2D2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0" y="3154680"/>
            <a:ext cx="429768" cy="429768"/>
          </a:xfrm>
          <a:prstGeom prst="rect">
            <a:avLst/>
          </a:prstGeom>
          <a:solidFill>
            <a:srgbClr val="F0E4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3154680"/>
            <a:ext cx="429768" cy="429768"/>
          </a:xfrm>
          <a:prstGeom prst="rect">
            <a:avLst/>
          </a:prstGeom>
          <a:solidFill>
            <a:srgbClr val="F4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154680"/>
            <a:ext cx="429768" cy="429768"/>
          </a:xfrm>
          <a:prstGeom prst="rect">
            <a:avLst/>
          </a:prstGeom>
          <a:solidFill>
            <a:srgbClr val="F2E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118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371600" y="3611880"/>
            <a:ext cx="429768" cy="429768"/>
          </a:xfrm>
          <a:prstGeom prst="rect">
            <a:avLst/>
          </a:prstGeom>
          <a:solidFill>
            <a:srgbClr val="EAD9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3611880"/>
            <a:ext cx="429768" cy="429768"/>
          </a:xfrm>
          <a:prstGeom prst="rect">
            <a:avLst/>
          </a:prstGeom>
          <a:solidFill>
            <a:srgbClr val="FAF4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3611880"/>
            <a:ext cx="429768" cy="429768"/>
          </a:xfrm>
          <a:prstGeom prst="rect">
            <a:avLst/>
          </a:prstGeom>
          <a:solidFill>
            <a:srgbClr val="F6EE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36118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3611880"/>
            <a:ext cx="429768" cy="429768"/>
          </a:xfrm>
          <a:prstGeom prst="rect">
            <a:avLst/>
          </a:prstGeom>
          <a:solidFill>
            <a:srgbClr val="F1E5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0" y="3611880"/>
            <a:ext cx="429768" cy="429768"/>
          </a:xfrm>
          <a:prstGeom prst="rect">
            <a:avLst/>
          </a:prstGeom>
          <a:solidFill>
            <a:srgbClr val="E0CE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0" y="3611880"/>
            <a:ext cx="429768" cy="429768"/>
          </a:xfrm>
          <a:prstGeom prst="rect">
            <a:avLst/>
          </a:prstGeom>
          <a:solidFill>
            <a:srgbClr val="F8F1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611880"/>
            <a:ext cx="429768" cy="429768"/>
          </a:xfrm>
          <a:prstGeom prst="rect">
            <a:avLst/>
          </a:prstGeom>
          <a:solidFill>
            <a:srgbClr val="F8F1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069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371600" y="4069080"/>
            <a:ext cx="429768" cy="429768"/>
          </a:xfrm>
          <a:prstGeom prst="rect">
            <a:avLst/>
          </a:prstGeom>
          <a:solidFill>
            <a:srgbClr val="E6D8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0" y="4069080"/>
            <a:ext cx="429768" cy="429768"/>
          </a:xfrm>
          <a:prstGeom prst="rect">
            <a:avLst/>
          </a:prstGeom>
          <a:solidFill>
            <a:srgbClr val="FBF5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0" y="4069080"/>
            <a:ext cx="429768" cy="429768"/>
          </a:xfrm>
          <a:prstGeom prst="rect">
            <a:avLst/>
          </a:prstGeom>
          <a:solidFill>
            <a:srgbClr val="E2D2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4069080"/>
            <a:ext cx="429768" cy="429768"/>
          </a:xfrm>
          <a:prstGeom prst="rect">
            <a:avLst/>
          </a:prstGeom>
          <a:solidFill>
            <a:srgbClr val="F1E5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40690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4069080"/>
            <a:ext cx="429768" cy="429768"/>
          </a:xfrm>
          <a:prstGeom prst="rect">
            <a:avLst/>
          </a:prstGeom>
          <a:solidFill>
            <a:srgbClr val="EFE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0" y="4069080"/>
            <a:ext cx="429768" cy="429768"/>
          </a:xfrm>
          <a:prstGeom prst="rect">
            <a:avLst/>
          </a:prstGeom>
          <a:solidFill>
            <a:srgbClr val="F6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4069080"/>
            <a:ext cx="429768" cy="429768"/>
          </a:xfrm>
          <a:prstGeom prst="rect">
            <a:avLst/>
          </a:prstGeom>
          <a:solidFill>
            <a:srgbClr val="D9C4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5262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371600" y="4526280"/>
            <a:ext cx="429768" cy="429768"/>
          </a:xfrm>
          <a:prstGeom prst="rect">
            <a:avLst/>
          </a:prstGeom>
          <a:solidFill>
            <a:srgbClr val="F7EF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28800" y="4526280"/>
            <a:ext cx="429768" cy="429768"/>
          </a:xfrm>
          <a:prstGeom prst="rect">
            <a:avLst/>
          </a:prstGeom>
          <a:solidFill>
            <a:srgbClr val="F6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0" y="4526280"/>
            <a:ext cx="429768" cy="429768"/>
          </a:xfrm>
          <a:prstGeom prst="rect">
            <a:avLst/>
          </a:prstGeom>
          <a:solidFill>
            <a:srgbClr val="F0E4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0" y="4526280"/>
            <a:ext cx="429768" cy="429768"/>
          </a:xfrm>
          <a:prstGeom prst="rect">
            <a:avLst/>
          </a:prstGeom>
          <a:solidFill>
            <a:srgbClr val="E0CE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4526280"/>
            <a:ext cx="429768" cy="429768"/>
          </a:xfrm>
          <a:prstGeom prst="rect">
            <a:avLst/>
          </a:prstGeom>
          <a:solidFill>
            <a:srgbClr val="EFE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0" y="45262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0" y="4526280"/>
            <a:ext cx="429768" cy="429768"/>
          </a:xfrm>
          <a:prstGeom prst="rect">
            <a:avLst/>
          </a:prstGeom>
          <a:solidFill>
            <a:srgbClr val="F8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0" y="4526280"/>
            <a:ext cx="429768" cy="429768"/>
          </a:xfrm>
          <a:prstGeom prst="rect">
            <a:avLst/>
          </a:prstGeom>
          <a:solidFill>
            <a:srgbClr val="B996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983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371600" y="4983480"/>
            <a:ext cx="429768" cy="429768"/>
          </a:xfrm>
          <a:prstGeom prst="rect">
            <a:avLst/>
          </a:prstGeom>
          <a:solidFill>
            <a:srgbClr val="F4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28800" y="4983480"/>
            <a:ext cx="429768" cy="429768"/>
          </a:xfrm>
          <a:prstGeom prst="rect">
            <a:avLst/>
          </a:prstGeom>
          <a:solidFill>
            <a:srgbClr val="EDE2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0" y="4983480"/>
            <a:ext cx="429768" cy="429768"/>
          </a:xfrm>
          <a:prstGeom prst="rect">
            <a:avLst/>
          </a:prstGeom>
          <a:solidFill>
            <a:srgbClr val="F4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0" y="4983480"/>
            <a:ext cx="429768" cy="429768"/>
          </a:xfrm>
          <a:prstGeom prst="rect">
            <a:avLst/>
          </a:prstGeom>
          <a:solidFill>
            <a:srgbClr val="F8F1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4983480"/>
            <a:ext cx="429768" cy="429768"/>
          </a:xfrm>
          <a:prstGeom prst="rect">
            <a:avLst/>
          </a:prstGeom>
          <a:solidFill>
            <a:srgbClr val="F6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57600" y="4983480"/>
            <a:ext cx="429768" cy="429768"/>
          </a:xfrm>
          <a:prstGeom prst="rect">
            <a:avLst/>
          </a:prstGeom>
          <a:solidFill>
            <a:srgbClr val="F8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14800" y="49834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0" y="4983480"/>
            <a:ext cx="429768" cy="429768"/>
          </a:xfrm>
          <a:prstGeom prst="rect">
            <a:avLst/>
          </a:prstGeom>
          <a:solidFill>
            <a:srgbClr val="F7EE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54406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371600" y="5440680"/>
            <a:ext cx="429768" cy="429768"/>
          </a:xfrm>
          <a:prstGeom prst="rect">
            <a:avLst/>
          </a:prstGeom>
          <a:solidFill>
            <a:srgbClr val="F5EC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28800" y="5440680"/>
            <a:ext cx="429768" cy="429768"/>
          </a:xfrm>
          <a:prstGeom prst="rect">
            <a:avLst/>
          </a:prstGeom>
          <a:solidFill>
            <a:srgbClr val="F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86000" y="5440680"/>
            <a:ext cx="429768" cy="429768"/>
          </a:xfrm>
          <a:prstGeom prst="rect">
            <a:avLst/>
          </a:prstGeom>
          <a:solidFill>
            <a:srgbClr val="F2E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5440680"/>
            <a:ext cx="429768" cy="429768"/>
          </a:xfrm>
          <a:prstGeom prst="rect">
            <a:avLst/>
          </a:prstGeom>
          <a:solidFill>
            <a:srgbClr val="F8F1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00400" y="5440680"/>
            <a:ext cx="429768" cy="429768"/>
          </a:xfrm>
          <a:prstGeom prst="rect">
            <a:avLst/>
          </a:prstGeom>
          <a:solidFill>
            <a:srgbClr val="D9C4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57600" y="5440680"/>
            <a:ext cx="429768" cy="429768"/>
          </a:xfrm>
          <a:prstGeom prst="rect">
            <a:avLst/>
          </a:prstGeom>
          <a:solidFill>
            <a:srgbClr val="B996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14800" y="5440680"/>
            <a:ext cx="429768" cy="429768"/>
          </a:xfrm>
          <a:prstGeom prst="rect">
            <a:avLst/>
          </a:prstGeom>
          <a:solidFill>
            <a:srgbClr val="F7EE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0" y="5440680"/>
            <a:ext cx="429768" cy="429768"/>
          </a:xfrm>
          <a:prstGeom prst="rect">
            <a:avLst/>
          </a:prstGeom>
          <a:solidFill>
            <a:srgbClr val="722F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5486400" y="2651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view of how strongly each chemical property relates to the others and to wine quality.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486400" y="3657600"/>
            <a:ext cx="457200" cy="2560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9" name="Shape 87"/>
          <p:cNvSpPr/>
          <p:nvPr/>
        </p:nvSpPr>
        <p:spPr>
          <a:xfrm>
            <a:off x="5943600" y="3657600"/>
            <a:ext cx="457200" cy="256032"/>
          </a:xfrm>
          <a:prstGeom prst="rect">
            <a:avLst/>
          </a:prstGeom>
          <a:solidFill>
            <a:srgbClr val="E2CC9D"/>
          </a:solidFill>
          <a:ln/>
        </p:spPr>
      </p:sp>
      <p:sp>
        <p:nvSpPr>
          <p:cNvPr id="90" name="Shape 88"/>
          <p:cNvSpPr/>
          <p:nvPr/>
        </p:nvSpPr>
        <p:spPr>
          <a:xfrm>
            <a:off x="6400800" y="3657600"/>
            <a:ext cx="457200" cy="256032"/>
          </a:xfrm>
          <a:prstGeom prst="rect">
            <a:avLst/>
          </a:prstGeom>
          <a:solidFill>
            <a:srgbClr val="FBF6EE"/>
          </a:solidFill>
          <a:ln/>
        </p:spPr>
      </p:sp>
      <p:sp>
        <p:nvSpPr>
          <p:cNvPr id="91" name="Shape 89"/>
          <p:cNvSpPr/>
          <p:nvPr/>
        </p:nvSpPr>
        <p:spPr>
          <a:xfrm>
            <a:off x="6858000" y="3657600"/>
            <a:ext cx="457200" cy="256032"/>
          </a:xfrm>
          <a:prstGeom prst="rect">
            <a:avLst/>
          </a:prstGeom>
          <a:solidFill>
            <a:srgbClr val="B79393"/>
          </a:solidFill>
          <a:ln/>
        </p:spPr>
      </p:sp>
      <p:sp>
        <p:nvSpPr>
          <p:cNvPr id="92" name="Shape 90"/>
          <p:cNvSpPr/>
          <p:nvPr/>
        </p:nvSpPr>
        <p:spPr>
          <a:xfrm>
            <a:off x="7315200" y="3657600"/>
            <a:ext cx="457200" cy="256032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93" name="Text 91"/>
          <p:cNvSpPr/>
          <p:nvPr/>
        </p:nvSpPr>
        <p:spPr>
          <a:xfrm>
            <a:off x="5486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9037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486400" y="4389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shows the strongest positive relationship with quality in this illustrative view.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Distribution &amp; Alcohol Trend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Score Distribution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Content vs. Quality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8745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722F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8928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60" y="224028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44240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722F3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208" y="1892808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5680" y="2468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40280"/>
            <a:ext cx="274320" cy="2743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31280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722F37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248" y="1892808"/>
            <a:ext cx="512064" cy="51206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22720" y="2468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0640" y="2240280"/>
            <a:ext cx="274320" cy="2743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418320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722F37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288" y="1892808"/>
            <a:ext cx="512064" cy="51206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509760" y="2468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457200" y="352044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4C1729"/>
          </a:solidFill>
          <a:ln w="12700">
            <a:solidFill>
              <a:srgbClr val="722F37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13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0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14"/>
          <p:cNvSpPr/>
          <p:nvPr/>
        </p:nvSpPr>
        <p:spPr>
          <a:xfrm>
            <a:off x="1463040" y="37764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731520" y="457200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two classes — for example, classifying wine as Good or Bad. Predicts the probability of a wine belonging to one of two categories.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63640" y="352044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4C1729"/>
          </a:solidFill>
          <a:ln w="12700">
            <a:solidFill>
              <a:srgbClr val="722F37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537960" y="379476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Text 18"/>
          <p:cNvSpPr/>
          <p:nvPr/>
        </p:nvSpPr>
        <p:spPr>
          <a:xfrm>
            <a:off x="653796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0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19"/>
          <p:cNvSpPr/>
          <p:nvPr/>
        </p:nvSpPr>
        <p:spPr>
          <a:xfrm>
            <a:off x="7269480" y="37764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Multinomial Logistic Regression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6537960" y="457200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there are more than two quality categories. Extends the binary approach to classify wine across multiple quality levels.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Data, Validating on Unseen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divide the dataset into training and testing data. The model learns patterns from the training data and is then evaluated on unseen testing data to measure how well it generalizes.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997696" cy="1005840"/>
          </a:xfrm>
          <a:prstGeom prst="roundRect">
            <a:avLst>
              <a:gd name="adj" fmla="val 7273"/>
            </a:avLst>
          </a:prstGeom>
          <a:solidFill>
            <a:srgbClr val="722F37"/>
          </a:solidFill>
          <a:ln/>
        </p:spPr>
      </p:sp>
      <p:sp>
        <p:nvSpPr>
          <p:cNvPr id="7" name="Shape 5"/>
          <p:cNvSpPr/>
          <p:nvPr/>
        </p:nvSpPr>
        <p:spPr>
          <a:xfrm>
            <a:off x="9454896" y="2743200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8997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 — 80%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54896" y="274320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0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0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7F0F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5262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4315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Phase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31520" y="4983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studies patterns between chemical properties and quality labels in the training set.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411480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7F0F1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5262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4315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Phase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537960" y="4983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predicts quality on data it has never seen, measuring real-world performance.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914400" cy="9144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1463040"/>
        </p:xfrm>
        <a:graphic>
          <a:graphicData uri="http://schemas.openxmlformats.org/drawingml/2006/table">
            <a:tbl>
              <a:tblPr/>
              <a:tblGrid>
                <a:gridCol w="3749040"/>
                <a:gridCol w="1874520"/>
                <a:gridCol w="1874520"/>
                <a:gridCol w="1874520"/>
                <a:gridCol w="187452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 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XX% with your model’s measured evaluation scores.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7F0F1"/>
          </a:solidFill>
          <a:ln/>
        </p:spPr>
      </p:sp>
      <p:sp>
        <p:nvSpPr>
          <p:cNvPr id="9" name="Shape 5"/>
          <p:cNvSpPr/>
          <p:nvPr/>
        </p:nvSpPr>
        <p:spPr>
          <a:xfrm>
            <a:off x="1485900" y="41148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423367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4800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9436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24612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7F0F1"/>
          </a:solidFill>
          <a:ln/>
        </p:spPr>
      </p:sp>
      <p:sp>
        <p:nvSpPr>
          <p:cNvPr id="14" name="Shape 9"/>
          <p:cNvSpPr/>
          <p:nvPr/>
        </p:nvSpPr>
        <p:spPr>
          <a:xfrm>
            <a:off x="4274820" y="41148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423367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46120" y="4800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338328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"good" wines, how many truly were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03504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7F0F1"/>
          </a:solidFill>
          <a:ln/>
        </p:spPr>
      </p:sp>
      <p:sp>
        <p:nvSpPr>
          <p:cNvPr id="19" name="Shape 13"/>
          <p:cNvSpPr/>
          <p:nvPr/>
        </p:nvSpPr>
        <p:spPr>
          <a:xfrm>
            <a:off x="7063740" y="41148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12" y="4233672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35040" y="4800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17220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"good" wines, how many were found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882396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7F0F1"/>
          </a:solidFill>
          <a:ln/>
        </p:spPr>
      </p:sp>
      <p:sp>
        <p:nvSpPr>
          <p:cNvPr id="24" name="Shape 17"/>
          <p:cNvSpPr/>
          <p:nvPr/>
        </p:nvSpPr>
        <p:spPr>
          <a:xfrm>
            <a:off x="9852660" y="411480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22F37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532" y="423367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23960" y="4800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961120" y="5120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between precision and recall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Gets It Right — and Wrong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 shows how many predictions were correct and how many were incorrectly classified, broken down by actual vs. predicted class.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6200000">
            <a:off x="173736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331720"/>
            <a:ext cx="868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3749040"/>
            <a:ext cx="868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331720"/>
            <a:ext cx="2322576" cy="1362456"/>
          </a:xfrm>
          <a:prstGeom prst="rect">
            <a:avLst/>
          </a:prstGeom>
          <a:solidFill>
            <a:srgbClr val="722F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31720"/>
            <a:ext cx="232257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2331720"/>
            <a:ext cx="2322576" cy="1362456"/>
          </a:xfrm>
          <a:prstGeom prst="rect">
            <a:avLst/>
          </a:prstGeom>
          <a:solidFill>
            <a:srgbClr val="C98A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331720"/>
            <a:ext cx="232257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3749040"/>
            <a:ext cx="2322576" cy="1362456"/>
          </a:xfrm>
          <a:prstGeom prst="rect">
            <a:avLst/>
          </a:prstGeom>
          <a:solidFill>
            <a:srgbClr val="C98A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749040"/>
            <a:ext cx="232257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0" y="3749040"/>
            <a:ext cx="2322576" cy="1362456"/>
          </a:xfrm>
          <a:prstGeom prst="rect">
            <a:avLst/>
          </a:prstGeom>
          <a:solidFill>
            <a:srgbClr val="722F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749040"/>
            <a:ext cx="232257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95360" y="2377440"/>
            <a:ext cx="128016" cy="128016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21" name="Text 19"/>
          <p:cNvSpPr/>
          <p:nvPr/>
        </p:nvSpPr>
        <p:spPr>
          <a:xfrm>
            <a:off x="8851392" y="2258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51392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as Good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95360" y="3063240"/>
            <a:ext cx="128016" cy="128016"/>
          </a:xfrm>
          <a:prstGeom prst="ellipse">
            <a:avLst/>
          </a:prstGeom>
          <a:solidFill>
            <a:srgbClr val="C98A93"/>
          </a:solidFill>
          <a:ln/>
        </p:spPr>
      </p:sp>
      <p:sp>
        <p:nvSpPr>
          <p:cNvPr id="24" name="Text 22"/>
          <p:cNvSpPr/>
          <p:nvPr/>
        </p:nvSpPr>
        <p:spPr>
          <a:xfrm>
            <a:off x="8851392" y="2944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851392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as Bad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95360" y="3749040"/>
            <a:ext cx="128016" cy="128016"/>
          </a:xfrm>
          <a:prstGeom prst="ellipse">
            <a:avLst/>
          </a:prstGeom>
          <a:solidFill>
            <a:srgbClr val="C98A93"/>
          </a:solidFill>
          <a:ln/>
        </p:spPr>
      </p:sp>
      <p:sp>
        <p:nvSpPr>
          <p:cNvPr id="27" name="Text 25"/>
          <p:cNvSpPr/>
          <p:nvPr/>
        </p:nvSpPr>
        <p:spPr>
          <a:xfrm>
            <a:off x="8851392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51392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Good, actually Bad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0" y="4434840"/>
            <a:ext cx="128016" cy="128016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30" name="Text 28"/>
          <p:cNvSpPr/>
          <p:nvPr/>
        </p:nvSpPr>
        <p:spPr>
          <a:xfrm>
            <a:off x="8851392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51392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Bad, actually Good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/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Prediction Demo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enters key chemical values, and the trained model instantly predicts the wine’s quality category.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7F0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0" y="2724912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724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0" y="329184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291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858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0" y="3858768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8587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4256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0" y="4425696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44256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926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0" y="4992624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C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49926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614416"/>
            <a:ext cx="5760720" cy="420624"/>
          </a:xfrm>
          <a:prstGeom prst="roundRect">
            <a:avLst>
              <a:gd name="adj" fmla="val 17391"/>
            </a:avLst>
          </a:prstGeom>
          <a:solidFill>
            <a:srgbClr val="722F3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614416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Wine Quality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69480" y="2011680"/>
            <a:ext cx="4462272" cy="4206240"/>
          </a:xfrm>
          <a:prstGeom prst="roundRect">
            <a:avLst>
              <a:gd name="adj" fmla="val 2609"/>
            </a:avLst>
          </a:prstGeom>
          <a:solidFill>
            <a:srgbClr val="3A0D1E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16" y="2651760"/>
            <a:ext cx="914400" cy="9144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543800" y="379476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Wine Quality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543800" y="4160520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</a:t>
            </a:r>
            <a:endParaRPr lang="en-US" sz="4000" dirty="0"/>
          </a:p>
        </p:txBody>
      </p:sp>
      <p:sp>
        <p:nvSpPr>
          <p:cNvPr id="29" name="Shape 26"/>
          <p:cNvSpPr/>
          <p:nvPr/>
        </p:nvSpPr>
        <p:spPr>
          <a:xfrm>
            <a:off x="8183880" y="5120640"/>
            <a:ext cx="2633472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26680" y="5257800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entered chemical values, the model classifies this sample as a good-quality wine.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 |  Machine Learning Project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0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486400" cy="5486400"/>
          </a:xfrm>
          <a:prstGeom prst="ellipse">
            <a:avLst/>
          </a:prstGeom>
          <a:solidFill>
            <a:srgbClr val="722F37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Chemistry to Quality — Successfully Classified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successfully uses logistic regression to classify wine quality based on its physicochemical properties. We compared binary and multi-class classification approaches and evaluated their performance using multiple machine-learning metrics.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2277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properties reliably signal wine quality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42569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and multinomial logistic regression both applied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834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492861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evaluated with accuracy, precision, recall &amp; F1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543153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demo validates real-world usability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7498080" y="196596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4C1729"/>
          </a:solidFill>
          <a:ln w="12700">
            <a:solidFill>
              <a:srgbClr val="722F37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2331720"/>
            <a:ext cx="1005840" cy="10058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8096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4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8138160" y="4709160"/>
            <a:ext cx="2926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680960" y="4892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Project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7680960" y="5212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Logistic Regression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2026-08-31T03:31:34Z</dcterms:created>
  <dcterms:modified xsi:type="dcterms:W3CDTF">2026-08-31T03:31:34Z</dcterms:modified>
</cp:coreProperties>
</file>